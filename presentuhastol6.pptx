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992FD-F80B-0840-88A7-AA5D817FA689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EF64D-D36E-BA41-9C23-A313FF5F4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87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вести. Читаете вопрос на экране и сразу спрашиваете зал: «Кто за GPU, кто за CPU?». На каждом слайде одна минута на реплики, цифры достаёте только когда спор буксует. На любое возражение отвечайте встречным вопросом: «А что будет, если...». Если в зале тишина, спросите самого уверенного: «Почему вы так считаете?». Резервные слайды в конце показывать не нужно, они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Разминка. Дайте залу ответить без цифр. Обычно говорят «класс школьников для обучения» и забывают про второй вопрос. Тогда спросите: «А если модель маленькая и стоит на ноутбуке, класс всё ещё нужен?». Цель слайда: показать, что ответ зависит от задачи, и подготовить зал к тесту через три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позиция: GPU победили. Дайте зал согласиться. Потом задайте вопрос и ждите ответы вроде «CPU управляют системой». Подведите: у CPU в этой диаграмме нет доли, но это не значит, что они не нужны. Если спросят про цифры: 75% — оценка из чата, другие аналитики дают больше 90%, потому что считают рынок иначе, поэтому говорите «от 75 до 90 процентов». Подтверждено отчётом NVIDIA: 89,0 млрд долларов за квартал в дата-центрах.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интрига. Попросите проголосовать руками и запомните, сколько человек выбрали «GPU в обеих задачах», таких обычно большинство. Ответ не показывайте, пока не спросите двоих людей «почему». Следующий слайд раскрывает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Раскрытие. Сравните с тем, как проголосовал зал. YOLO: GPU быстрее в 4,4 раза. Llama: CPU быстрее в 2,9 раза, потому что модели нужно около 5 ГБ, а видеопамяти 4. Дальше провокация про память: HBM на 2026 год по сообщениям распродана, и производители памяти получают сверхприбыль. Оговорка для скептиков: это один маленький стенд, в дата-центре у GPU десятки и сотни гигабайт HBM. Если зал возразит этим, хорошо, спросите: «А когда и эта память кончится?».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путь. Специализированные чипы (Hailo, SiMa.ai, Axelera) дают 5–10 TOPS на ватт, универсальные SoC около 0,3–1, а GPU-модуль Jetson посередине. Вопрос зала на эту тему обычно звучит так: «а где CPU?». Ответ: CPU здесь не борется по эффективности, но управляет всем вокруг. Оговорки: в статье колонка TOPS названа «КОРСЕТЫ» из-за ошибки автоперевода; в основной слайд не вошли Intel Movidius Myriad X (0,8) и Rockchip RK3588 (0,4), они есть в расчётах.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Зацепка про деньги. Токенов становится в разы больше, значит инференс главнее обучения. Главный вопрос слайда про «самый дешёвый токен»: там выигрывают те, кто считает стоимость, а не скорость, то есть кастомные чипы и CPU-серверы. Осторожно: график показывает использование моделей на одной платформе и не доказывает долю никакого вендора. Если спросят, к чему это, скажите: к тому, что борьба идёт за инференс.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слайд для спора. Читайте тезис вслух и сразу просите руки. Затем спросите одного «за» и одного «против». Факты под тезисами держите про запас: показывайте, только если спорят вхолостую. Тезис 4: TrendForce ожидает, что соотношение CPU к GPU в ИИ-дата-центрах изменится с 1:4–1:8 до 1:1–1:2; это прогноз, а часть спроса может быть защитными закупками. Данные по NPU взяты из пересказа Gartner в стороннем издании.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Закрытие. Скажите свою позицию за 20 секунд: по деньгам выигрывает GPU, по эффективности специализированные чипы, по работе с большими моделями без дорогой видеопамяти CPU. Затем отдайте слово залу и попросите каждого назвать ставку на 2027 год с одной причиной. Это же ответ на формат этапа 5: прогноз, угроза и упущенная возможность могут прозвучать в их ответах, а вы их фиксируете.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со скриншота. Ядра: до 64 против до 10 000. Память: до 100 ГБ/с против до 1,5 ТБ/с. Энергоэффективность: 0,01 против 0,5–1,25 Тфлопс/Вт, то есть в 50–125 раз. В другом материале чата называли 10–50 раз, поэтому говорите «на порядок и больше». Оговорка: это типичные значения; у серверных CPU пропускная способность памяти выше 100 ГБ/с, а у топовых GPU с HBM выше 1,5 ТБ/с.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Практический взгляд. CPU держат всё, что не ускоряется на GPU: сайты, базы данных, очереди, сборку. GPU берут ИИ, рендеринг и видео. Ключевой критерий выбора для GPU — видеопамять и её пропускная способность, а не частота. Это пригодится на слайде с тестом: там модель не поместилась в память GPU, и выиграл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интересный слайд для спора. Две задачи на одном ноутбуке. Детектор объектов YOLOv8s помещается в видеопамять, и GPU быстрее в 4,4 раза. Языковая модель Llama-3-8B не помещается в 4 ГБ видеопамяти, и CPU с 8 ГБ обычной памяти оказывается быстрее. Это аргумент в пользу того, что решает память, а не только число ядер. Честная оговорка: это один небольшой стенд, а в дата-центре у GPU десятки и сотни гигабайт HBM.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Резервный слайд, не для показа, а на случай вопросов. Цифры в чате ИИ-ассистента оказались неточными или несогласованными между собой. Если оппонент назовёт 85% маржи или 3,6 трлн капитализации, вы можете сослаться на отчёт NVIDIA и свежие обзоры. Операционная маржа взята из GAAP-отчёта за июльский квартал 2026. Диапазон капзатрат относится к четырём гиперскейлерам, а в чате были три компании, поэтому прямое сравнение некорректно.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спросят, откуда цифры: таблицы, диаграмма долей и тест взяты из материалов, которые вы нашли сами. Всё, что можно проверить, я сверил с отчётами NVIDIA и AMD и обзорами. Данные теста и график спроса — единичные источники, называйте их так.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7"/>
            <a:ext cx="10566400" cy="4424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7"/>
            <a:ext cx="10566400" cy="4424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86500" y="889000"/>
            <a:ext cx="5080000" cy="5080000"/>
          </a:xfrm>
          <a:prstGeom prst="rect">
            <a:avLst/>
          </a:prstGeom>
          <a:gradFill rotWithShape="1">
            <a:gsLst>
              <a:gs pos="0">
                <a:srgbClr val="F2994A">
                  <a:alpha val="38000"/>
                </a:srgbClr>
              </a:gs>
              <a:gs pos="100000">
                <a:srgbClr val="F2994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62890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или </a:t>
            </a:r>
            <a:r>
              <a:rPr lang="en-US" sz="6000" b="1" i="0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r>
              <a:rPr lang="en-US" sz="6000" b="1" i="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кто победит в гонке AI-ускорителей?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решит задачу быстрее?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47472"/>
            <a:ext cx="5175250" cy="1767266"/>
          </a:xfrm>
          <a:prstGeom prst="roundRect">
            <a:avLst>
              <a:gd name="adj" fmla="val 5569"/>
            </a:avLst>
          </a:prstGeom>
          <a:solidFill>
            <a:srgbClr val="FBFAF6"/>
          </a:solidFill>
          <a:ln w="6350">
            <a:solidFill>
              <a:srgbClr val="DAD6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638" y="1803136"/>
            <a:ext cx="480384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1638" y="2092665"/>
            <a:ext cx="4803842" cy="34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профессор математики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638" y="2490145"/>
            <a:ext cx="4803842" cy="59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 любую сложную задачу, но по одной. Ядер от 4 до 64.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0775" y="1547472"/>
            <a:ext cx="5175250" cy="1767266"/>
          </a:xfrm>
          <a:prstGeom prst="roundRect">
            <a:avLst>
              <a:gd name="adj" fmla="val 5569"/>
            </a:avLst>
          </a:prstGeom>
          <a:solidFill>
            <a:srgbClr val="FBFAF6"/>
          </a:solidFill>
          <a:ln w="6350">
            <a:solidFill>
              <a:srgbClr val="DAD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438" y="1803136"/>
            <a:ext cx="480384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8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6438" y="2092665"/>
            <a:ext cx="4803842" cy="34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из 10 000 школьников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56438" y="2490145"/>
            <a:ext cx="4803842" cy="59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умеет только простую арифметику, но считают все одновременно.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546513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перемножить миллиарды матриц. Так устроено обучение нейросети.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52700" y="4213263"/>
            <a:ext cx="888199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 вы наймёте для обучения нейросети? А для чат-бота на ноутбуке?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66400" y="6238270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уже у GPU?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93498"/>
            <a:ext cx="10883392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Доли выручки ускорителей для дата-центров,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1973528"/>
            <a:ext cx="2616200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(GPU)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05200" y="1963359"/>
            <a:ext cx="5715000" cy="304800"/>
          </a:xfrm>
          <a:prstGeom prst="roundRect">
            <a:avLst>
              <a:gd name="adj" fmla="val 8333"/>
            </a:avLst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9372600" y="1920194"/>
            <a:ext cx="632596" cy="41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2491657"/>
            <a:ext cx="2616200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Кастомные ASIC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05200" y="2481489"/>
            <a:ext cx="1295400" cy="304800"/>
          </a:xfrm>
          <a:prstGeom prst="roundRect">
            <a:avLst>
              <a:gd name="adj" fmla="val 8333"/>
            </a:avLst>
          </a:prstGeom>
          <a:solidFill>
            <a:srgbClr val="2BB3A3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0" y="2438324"/>
            <a:ext cx="632596" cy="41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800" y="3009787"/>
            <a:ext cx="2616200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Instinct (GPU)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05200" y="2999620"/>
            <a:ext cx="533400" cy="304800"/>
          </a:xfrm>
          <a:prstGeom prst="roundRect">
            <a:avLst>
              <a:gd name="adj" fmla="val 8333"/>
            </a:avLst>
          </a:prstGeom>
          <a:solidFill>
            <a:srgbClr val="7C8AA0"/>
          </a:solidFill>
          <a:ln/>
        </p:spPr>
      </p:sp>
      <p:sp>
        <p:nvSpPr>
          <p:cNvPr id="12" name="Text 10"/>
          <p:cNvSpPr/>
          <p:nvPr/>
        </p:nvSpPr>
        <p:spPr>
          <a:xfrm>
            <a:off x="4191000" y="2956455"/>
            <a:ext cx="440236" cy="41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3527916"/>
            <a:ext cx="2616200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и прочие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05200" y="3517750"/>
            <a:ext cx="76200" cy="304800"/>
          </a:xfrm>
          <a:prstGeom prst="roundRect">
            <a:avLst>
              <a:gd name="adj" fmla="val 33333"/>
            </a:avLst>
          </a:prstGeom>
          <a:solidFill>
            <a:srgbClr val="7C8AA0"/>
          </a:solidFill>
          <a:ln/>
        </p:spPr>
      </p:sp>
      <p:sp>
        <p:nvSpPr>
          <p:cNvPr id="15" name="Text 13"/>
          <p:cNvSpPr/>
          <p:nvPr/>
        </p:nvSpPr>
        <p:spPr>
          <a:xfrm>
            <a:off x="3733800" y="3474585"/>
            <a:ext cx="440236" cy="41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2800" y="4043514"/>
            <a:ext cx="10883392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аналитики дают NVIDIA больше 90%. По отчёту NVIDIA, дата-центры — 92% её выручки (89,0 млрд $ за квартал).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16000" y="4658821"/>
            <a:ext cx="13843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ЗАЛУ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52700" y="4622611"/>
            <a:ext cx="888199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4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деньги у GPU, зачем вообще нужны CPU в ИИ?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66400" y="6238270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Угадайте: кто быстрее?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44298"/>
            <a:ext cx="10883392" cy="322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ноутбук, 4 ГБ видеопамяти. Две задачи, и в каждой CPU против GPU.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75" y="2073238"/>
            <a:ext cx="5175250" cy="1767266"/>
          </a:xfrm>
          <a:prstGeom prst="roundRect">
            <a:avLst>
              <a:gd name="adj" fmla="val 5569"/>
            </a:avLst>
          </a:prstGeom>
          <a:solidFill>
            <a:srgbClr val="FBFAF6"/>
          </a:solidFill>
          <a:ln w="6350">
            <a:solidFill>
              <a:srgbClr val="DAD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638" y="2328901"/>
            <a:ext cx="480384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8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638" y="2618431"/>
            <a:ext cx="4803842" cy="34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Распознать объекты на видео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1638" y="3015910"/>
            <a:ext cx="4803842" cy="59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Нейросеть YOLOv8s, занимает около 1 ГБ памяти.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00775" y="2073238"/>
            <a:ext cx="5175250" cy="1767266"/>
          </a:xfrm>
          <a:prstGeom prst="roundRect">
            <a:avLst>
              <a:gd name="adj" fmla="val 5569"/>
            </a:avLst>
          </a:prstGeom>
          <a:solidFill>
            <a:srgbClr val="FBFAF6"/>
          </a:solidFill>
          <a:ln w="6350">
            <a:solidFill>
              <a:srgbClr val="DAD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6438" y="2328901"/>
            <a:ext cx="480384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8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6438" y="2618431"/>
            <a:ext cx="4803842" cy="34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языковую модель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56438" y="3015910"/>
            <a:ext cx="4803842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Llama-3-8B, нужно около 5 ГБ памяти.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52700" y="4224679"/>
            <a:ext cx="888199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Поднимите руку: в какой задаче выиграет CPU, а в какой GPU?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66400" y="6238270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Ответ: решает память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496671"/>
            <a:ext cx="5175250" cy="1811753"/>
          </a:xfrm>
          <a:prstGeom prst="roundRect">
            <a:avLst>
              <a:gd name="adj" fmla="val 5433"/>
            </a:avLst>
          </a:prstGeom>
          <a:solidFill>
            <a:srgbClr val="17233A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238" y="1726936"/>
            <a:ext cx="4856166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YOLOV8S: ВЛЕЗАЕТ В VRAM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6238" y="2041866"/>
            <a:ext cx="166955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4,4×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46238" y="2829266"/>
            <a:ext cx="151715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у GPU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15797" y="2041866"/>
            <a:ext cx="183278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2,9×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715797" y="2829266"/>
            <a:ext cx="213527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кадров на ватт у GPU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496671"/>
            <a:ext cx="5175250" cy="1811753"/>
          </a:xfrm>
          <a:prstGeom prst="roundRect">
            <a:avLst>
              <a:gd name="adj" fmla="val 5433"/>
            </a:avLst>
          </a:prstGeom>
          <a:solidFill>
            <a:srgbClr val="17233A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1038" y="1726936"/>
            <a:ext cx="4856166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B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LLAMA-3-8B: НЕ ВЛЕЗАЕТ В 4 ГБ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31038" y="2041866"/>
            <a:ext cx="166955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B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2,9×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431038" y="2829266"/>
            <a:ext cx="151715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у CPU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00597" y="2041866"/>
            <a:ext cx="190433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B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4,3×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100597" y="2829266"/>
            <a:ext cx="2218645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токенов на ватт у CPU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489403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выигрывает, пока задача помещается в его память.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6000" y="4284436"/>
            <a:ext cx="13843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ЗАЛУ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66400" y="6238270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если оба проигрывают?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2700"/>
            <a:ext cx="119756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 на ватт: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3970" y="1473163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2242571" y="1442700"/>
            <a:ext cx="2607393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специализированные NPU и ASIC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9964" y="1473163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C2610F"/>
          </a:solidFill>
          <a:ln/>
        </p:spPr>
      </p:sp>
      <p:sp>
        <p:nvSpPr>
          <p:cNvPr id="7" name="Text 5"/>
          <p:cNvSpPr/>
          <p:nvPr/>
        </p:nvSpPr>
        <p:spPr>
          <a:xfrm>
            <a:off x="5078564" y="1442700"/>
            <a:ext cx="1040856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GPU-модуль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49144" y="1473163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6377744" y="1442700"/>
            <a:ext cx="1723708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универсальные SoC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1783029"/>
            <a:ext cx="26162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SiMa.ai MLSoC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9800" y="1805859"/>
            <a:ext cx="3556000" cy="20320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162800" y="1783029"/>
            <a:ext cx="6223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1300" y="1800792"/>
            <a:ext cx="128528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TOPS · &lt;5 Вт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2108126"/>
            <a:ext cx="26162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Hailo-8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9800" y="2130955"/>
            <a:ext cx="3092450" cy="20320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699250" y="2108126"/>
            <a:ext cx="6223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97750" y="2125889"/>
            <a:ext cx="155389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TOPS · 2,5–3 Вт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2433222"/>
            <a:ext cx="26162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Axelera Metis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9800" y="2456052"/>
            <a:ext cx="1917700" cy="20320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5524500" y="2433222"/>
            <a:ext cx="6223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23000" y="2450988"/>
            <a:ext cx="172343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 TOPS · 20–40 Вт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2758318"/>
            <a:ext cx="26162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Jetson AGX Orin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9800" y="2781148"/>
            <a:ext cx="1638300" cy="203200"/>
          </a:xfrm>
          <a:prstGeom prst="roundRect">
            <a:avLst>
              <a:gd name="adj" fmla="val 12500"/>
            </a:avLst>
          </a:prstGeom>
          <a:solidFill>
            <a:srgbClr val="C2610F"/>
          </a:solidFill>
          <a:ln/>
        </p:spPr>
      </p:sp>
      <p:sp>
        <p:nvSpPr>
          <p:cNvPr id="24" name="Text 22"/>
          <p:cNvSpPr/>
          <p:nvPr/>
        </p:nvSpPr>
        <p:spPr>
          <a:xfrm>
            <a:off x="5245100" y="2758318"/>
            <a:ext cx="6223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2776085"/>
            <a:ext cx="172343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 TOPS · 10–60 Вт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3083418"/>
            <a:ext cx="26162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Edge TPU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79800" y="3106248"/>
            <a:ext cx="711200" cy="20320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4318000" y="3083418"/>
            <a:ext cx="6223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16500" y="3101181"/>
            <a:ext cx="108952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TOPS · 2 Вт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3408514"/>
            <a:ext cx="26162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RB5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79800" y="3431344"/>
            <a:ext cx="355600" cy="203200"/>
          </a:xfrm>
          <a:prstGeom prst="roundRect">
            <a:avLst>
              <a:gd name="adj" fmla="val 12500"/>
            </a:avLst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3962400" y="3408514"/>
            <a:ext cx="6223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0900" y="3426281"/>
            <a:ext cx="1517877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TOPS · 5–15 Вт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800" y="3733611"/>
            <a:ext cx="26162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NXP i.MX 8M Plus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479800" y="3756440"/>
            <a:ext cx="101600" cy="20320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36" name="Text 34"/>
          <p:cNvSpPr/>
          <p:nvPr/>
        </p:nvSpPr>
        <p:spPr>
          <a:xfrm>
            <a:off x="3708400" y="3733611"/>
            <a:ext cx="622300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406900" y="3751377"/>
            <a:ext cx="145111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 TOPS · 3–8 Вт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2800" y="4109510"/>
            <a:ext cx="1088339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Мощность — максимум из диапазона таблицы; TOPS — заявления производителей; расчёт и цвета мои.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66400" y="6238270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Токенов всё больше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68100"/>
            <a:ext cx="10883392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Трлн токенов в неделю на OpenRouter, девять крупнейших моделей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1922729"/>
            <a:ext cx="2747010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Китай, январь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2200" y="1912559"/>
            <a:ext cx="177800" cy="304800"/>
          </a:xfrm>
          <a:prstGeom prst="roundRect">
            <a:avLst>
              <a:gd name="adj" fmla="val 14286"/>
            </a:avLst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3962400" y="1869396"/>
            <a:ext cx="660763" cy="41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≈0,7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2440859"/>
            <a:ext cx="2747010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Китай, июнь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32200" y="2430689"/>
            <a:ext cx="4699000" cy="304800"/>
          </a:xfrm>
          <a:prstGeom prst="roundRect">
            <a:avLst>
              <a:gd name="adj" fmla="val 8333"/>
            </a:avLst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8483600" y="2387526"/>
            <a:ext cx="853123" cy="41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≈18,5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800" y="2958988"/>
            <a:ext cx="2747010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США, январь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32200" y="2948818"/>
            <a:ext cx="660400" cy="304800"/>
          </a:xfrm>
          <a:prstGeom prst="roundRect">
            <a:avLst>
              <a:gd name="adj" fmla="val 8333"/>
            </a:avLst>
          </a:prstGeom>
          <a:solidFill>
            <a:srgbClr val="7C8AA0"/>
          </a:solidFill>
          <a:ln/>
        </p:spPr>
      </p:sp>
      <p:sp>
        <p:nvSpPr>
          <p:cNvPr id="12" name="Text 10"/>
          <p:cNvSpPr/>
          <p:nvPr/>
        </p:nvSpPr>
        <p:spPr>
          <a:xfrm>
            <a:off x="4445000" y="2905655"/>
            <a:ext cx="660763" cy="41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3477118"/>
            <a:ext cx="2747010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США, июнь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32200" y="3466951"/>
            <a:ext cx="1473200" cy="304800"/>
          </a:xfrm>
          <a:prstGeom prst="roundRect">
            <a:avLst>
              <a:gd name="adj" fmla="val 8333"/>
            </a:avLst>
          </a:prstGeom>
          <a:solidFill>
            <a:srgbClr val="7C8AA0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3423785"/>
            <a:ext cx="660763" cy="41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≈5,8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16000" y="4521656"/>
            <a:ext cx="13843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4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ЗАЛУ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52700" y="4485444"/>
            <a:ext cx="888199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4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важнее: самый быстрый чип или самый дешёвый токен?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66400" y="6238270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Согласны? Четыре спорных тезиса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496675"/>
            <a:ext cx="5200650" cy="1400251"/>
          </a:xfrm>
          <a:prstGeom prst="roundRect">
            <a:avLst>
              <a:gd name="adj" fmla="val 7029"/>
            </a:avLst>
          </a:prstGeom>
          <a:solidFill>
            <a:srgbClr val="FBFAF6"/>
          </a:solidFill>
          <a:ln w="6350">
            <a:solidFill>
              <a:srgbClr val="DAD6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838" y="1701536"/>
            <a:ext cx="4934652" cy="513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«Через два года видеокарта в ноутбуке не нужна: хватит NPU»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0838" y="2265400"/>
            <a:ext cx="4934652" cy="45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уже в 54,7% ПК 2026 года, но ПК покупают не из-за ИИ (Gartner, в пересказе).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5375" y="1496675"/>
            <a:ext cx="5200650" cy="1400251"/>
          </a:xfrm>
          <a:prstGeom prst="roundRect">
            <a:avLst>
              <a:gd name="adj" fmla="val 7029"/>
            </a:avLst>
          </a:prstGeom>
          <a:solidFill>
            <a:srgbClr val="FBFAF6"/>
          </a:solidFill>
          <a:ln w="6350">
            <a:solidFill>
              <a:srgbClr val="DAD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0238" y="1701536"/>
            <a:ext cx="4934652" cy="26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«NVIDIA держит рынок не железом, а CUDA»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80238" y="2021570"/>
            <a:ext cx="4934652" cy="45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с 2006 года, но ИИ-выручка Broadcom за год выросла на 221%.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975" y="3055674"/>
            <a:ext cx="5200650" cy="1400251"/>
          </a:xfrm>
          <a:prstGeom prst="roundRect">
            <a:avLst>
              <a:gd name="adj" fmla="val 7029"/>
            </a:avLst>
          </a:prstGeom>
          <a:solidFill>
            <a:srgbClr val="FBFAF6"/>
          </a:solidFill>
          <a:ln w="6350">
            <a:solidFill>
              <a:srgbClr val="DAD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0838" y="3260536"/>
            <a:ext cx="4934652" cy="513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«ИИ упрётся не в чипы, а в память и электричество»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0838" y="3824402"/>
            <a:ext cx="4934652" cy="45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на 2026 год по сообщениям распродана, GPU для ЦОД ждут 36–52 недели.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3055674"/>
            <a:ext cx="5200650" cy="1400251"/>
          </a:xfrm>
          <a:prstGeom prst="roundRect">
            <a:avLst>
              <a:gd name="adj" fmla="val 7029"/>
            </a:avLst>
          </a:prstGeom>
          <a:solidFill>
            <a:srgbClr val="FBFAF6"/>
          </a:solidFill>
          <a:ln w="6350">
            <a:solidFill>
              <a:srgbClr val="DAD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0238" y="3260536"/>
            <a:ext cx="4934652" cy="26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«Агентный ИИ вернёт CPU в центр»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80238" y="3580569"/>
            <a:ext cx="4934652" cy="45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TrendForce: на GPU придётся в разы больше CPU, срок поставки CPU вырос до 25–30 недель.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66400" y="6238273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9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14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ПОЗИЦИЯ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00466"/>
            <a:ext cx="11379200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Единого победителя нет: всё зависит от задачи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06563"/>
            <a:ext cx="3420533" cy="1591204"/>
          </a:xfrm>
          <a:prstGeom prst="roundRect">
            <a:avLst>
              <a:gd name="adj" fmla="val 6385"/>
            </a:avLst>
          </a:prstGeom>
          <a:solidFill>
            <a:srgbClr val="0E1624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209763"/>
            <a:ext cx="3104557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499296"/>
            <a:ext cx="3104557" cy="34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и обучение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2896772"/>
            <a:ext cx="3104557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и больше выручки ускорителей.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5733" y="2006563"/>
            <a:ext cx="3420533" cy="1591204"/>
          </a:xfrm>
          <a:prstGeom prst="roundRect">
            <a:avLst>
              <a:gd name="adj" fmla="val 6385"/>
            </a:avLst>
          </a:prstGeom>
          <a:solidFill>
            <a:srgbClr val="0E1624"/>
          </a:solidFill>
          <a:ln/>
        </p:spPr>
      </p:sp>
      <p:sp>
        <p:nvSpPr>
          <p:cNvPr id="9" name="Text 7"/>
          <p:cNvSpPr/>
          <p:nvPr/>
        </p:nvSpPr>
        <p:spPr>
          <a:xfrm>
            <a:off x="4588933" y="2209763"/>
            <a:ext cx="3104557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B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 И NPU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88933" y="2499296"/>
            <a:ext cx="3104557" cy="34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88933" y="2896772"/>
            <a:ext cx="3104557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TOPS/Вт против 0,3–1 у универсальных SoC.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8667" y="2006563"/>
            <a:ext cx="3420533" cy="1591204"/>
          </a:xfrm>
          <a:prstGeom prst="roundRect">
            <a:avLst>
              <a:gd name="adj" fmla="val 6385"/>
            </a:avLst>
          </a:prstGeom>
          <a:solidFill>
            <a:srgbClr val="0E1624"/>
          </a:solidFill>
          <a:ln/>
        </p:spPr>
      </p:sp>
      <p:sp>
        <p:nvSpPr>
          <p:cNvPr id="13" name="Text 11"/>
          <p:cNvSpPr/>
          <p:nvPr/>
        </p:nvSpPr>
        <p:spPr>
          <a:xfrm>
            <a:off x="8161867" y="2209763"/>
            <a:ext cx="3104557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BB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1867" y="2499296"/>
            <a:ext cx="3104557" cy="34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и управление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61867" y="2896772"/>
            <a:ext cx="3104557" cy="52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GPU, когда модель не влезает в VRAM.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6000" y="4004165"/>
            <a:ext cx="10464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ХОД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66400" y="6238273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3B2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Резерв: CPU и GPU в цифрах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895" y="1530992"/>
          <a:ext cx="10554305" cy="2810328"/>
        </p:xfrm>
        <a:graphic>
          <a:graphicData uri="http://schemas.openxmlformats.org/drawingml/2006/table">
            <a:tbl>
              <a:tblPr/>
              <a:tblGrid>
                <a:gridCol w="2955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Характеристика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Количество ядер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~4–64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10 000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Обработка данных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Последовательная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Параллельная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Оптимизация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Универсальные задачи, сложная логика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Параллельные вычисления, матричные операции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3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Пропускная способность памяти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100 ГБ/с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1,5 ТБ/с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Энергоэффективность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~0,01 Тфлопс/Вт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~0,5–1,25 Тфлопс/Вт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5500" y="4544523"/>
            <a:ext cx="0" cy="568930"/>
          </a:xfrm>
          <a:prstGeom prst="line">
            <a:avLst/>
          </a:prstGeom>
          <a:noFill/>
          <a:ln w="25400">
            <a:solidFill>
              <a:srgbClr val="C2610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9390" y="4544523"/>
            <a:ext cx="10701504" cy="59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в энергоэффективности: 50–125 раз по этой таблице, 10–50 раз в другом материале. Важен порядок величины, а не точная цифра.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73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Резерв: кто за что отвечает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895" y="1530992"/>
          <a:ext cx="10554305" cy="3308124"/>
        </p:xfrm>
        <a:graphic>
          <a:graphicData uri="http://schemas.openxmlformats.org/drawingml/2006/table">
            <a:tbl>
              <a:tblPr/>
              <a:tblGrid>
                <a:gridCol w="2533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Основная роль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Универсальные вычисления и управление системой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Параллельные вычисления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Типичная нагрузка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Сайты, API, БД, CRM, очереди, мониторинг, CI/CD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AI/ML, инференс, рендеринг, видео, компьютерное зрение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важнее при выборе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Частота, IPC, кэш, память, ввод-вывод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VRAM, пропускная способность памяти, параллелизм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обычно дешевле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CPU-сервер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GPU-сервер почти всегда дороже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3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Порог входа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Низкий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Выше: нужен понятный сценарий применения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5500" y="5042315"/>
            <a:ext cx="0" cy="568930"/>
          </a:xfrm>
          <a:prstGeom prst="line">
            <a:avLst/>
          </a:prstGeom>
          <a:noFill/>
          <a:ln w="25400">
            <a:solidFill>
              <a:srgbClr val="C2610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9390" y="5042315"/>
            <a:ext cx="10701504" cy="59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не заменяет другого: CPU — базовый вычислительный слой, GPU — ускоритель под определённый класс задач.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73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Резерв: таблица теста инференса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895" y="1530992"/>
          <a:ext cx="10554305" cy="1927110"/>
        </p:xfrm>
        <a:graphic>
          <a:graphicData uri="http://schemas.openxmlformats.org/drawingml/2006/table">
            <a:tbl>
              <a:tblPr/>
              <a:tblGrid>
                <a:gridCol w="2533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08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8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Вычислитель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Скорость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Память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Мощность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YOLOv8s FP32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(AVX2)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 FPS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 ГБ 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35–45 Вт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YOLOv8s FP32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(CUDA)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54,2 FPS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 ГБ VRAM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55–65 Вт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Llama-3-8B Q4_K_M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(12 потоков)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 ток./с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 ГБ 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45–50 Вт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42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Llama-3-8B Q4_K_M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(offload)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 ток./с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 ГБ VRAM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65–75 Вт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661308"/>
            <a:ext cx="10883392" cy="77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Llama-3-8B требует около 5 ГБ, а видеопамяти доступно 4 ГБ: переполнение и обращение к shared VRAM снижают скорость на 30–50% относительно чистого CPU. Частичный перенос весов на GPU дал 2,3 ток./с, но задержка первого токена выросла до 2–3 секунд из-за шины PCIe.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73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Резерв: проверка цифр из чата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895" y="1449732"/>
          <a:ext cx="10554304" cy="3177950"/>
        </p:xfrm>
        <a:graphic>
          <a:graphicData uri="http://schemas.openxmlformats.org/drawingml/2006/table">
            <a:tbl>
              <a:tblPr/>
              <a:tblGrid>
                <a:gridCol w="2955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3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5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09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Утверждение из чата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нашлось в источниках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говорить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Маржа NVIDIA 85%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Валовая 75%, операционная около 66% (отчёт NVIDIA, 2 кв. FY2027)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Валовая маржа 75%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09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забирают «две трети» денег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диаграмме того же чата 75%; в другом обзоре больше 90%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 75 до 90%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Капитализация NVIDIA $3,6 трлн (график чата)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Около $5,65 трлн на 5 октября 2026 (InvestingCube)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График не использовать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Бюджеты Microsoft, Meta, Google $450 млрд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Капзатраты гиперскейлеров $660–690 млрд в 2026, около 75% на ИИ (Introl)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Диапазон с источником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4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Маржа производителей CPU около 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Валовая маржа AMD 54% во 2 кв. 2026 (отчёт AMD)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Для AMD — 54%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09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эффективнее в 10–50 раз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Таблица: 0,01 против 0,5–1,25 Тфлопс/Вт, то есть 50–125 раз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«На порядок и больше»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566400" y="6238273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93496"/>
            <a:ext cx="10883392" cy="45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Скриншоты автора:</a:t>
            </a:r>
            <a:r>
              <a:rPr lang="en-US" sz="12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таблица CPU и GPU, таблица по критериям выбора, таблица edge-ускорителей, диаграмма долей выручки 2026, текст чата со слайдами и метафорой, таблица теста инференса, график OpenRouter (smart-lab.ru)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996356"/>
            <a:ext cx="1088339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NVIDIA, итоги 2 кв. FY2027 — investor.nvidia.com (26 августа 2026)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285888"/>
            <a:ext cx="1088339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AMD, итоги 2 кв. 2026 — ir.amd.com (4 августа 2026)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575421"/>
            <a:ext cx="1088339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Introl, Custom Silicon Inflection Point (доля NVIDIA, капзатраты гиперскейлеров)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864948"/>
            <a:ext cx="1088339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InvestingCube, крупнейшие компании по капитализации в 2026 году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154480"/>
            <a:ext cx="10883392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7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Расчёты автора: TOPS на ватт, FPS и токены на ватт, отношения скоростей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66400" y="6238273"/>
            <a:ext cx="812800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U или GPU: спор для круглого стола">
  <a:themeElements>
    <a:clrScheme name="CPU или GPU: спор для круглого стола">
      <a:dk1>
        <a:srgbClr val="17202E"/>
      </a:dk1>
      <a:lt1>
        <a:srgbClr val="F3F1EA"/>
      </a:lt1>
      <a:dk2>
        <a:srgbClr val="4E545D"/>
      </a:dk2>
      <a:lt2>
        <a:srgbClr val="DDDCD7"/>
      </a:lt2>
      <a:accent1>
        <a:srgbClr val="F2994A"/>
      </a:accent1>
      <a:accent2>
        <a:srgbClr val="0F766E"/>
      </a:accent2>
      <a:accent3>
        <a:srgbClr val="2BB3A3"/>
      </a:accent3>
      <a:accent4>
        <a:srgbClr val="A8480A"/>
      </a:accent4>
      <a:accent5>
        <a:srgbClr val="C2610F"/>
      </a:accent5>
      <a:accent6>
        <a:srgbClr val="3B2611"/>
      </a:accent6>
      <a:hlink>
        <a:srgbClr val="0563C1"/>
      </a:hlink>
      <a:folHlink>
        <a:srgbClr val="954F72"/>
      </a:folHlink>
    </a:clrScheme>
    <a:fontScheme name="CPU или GPU: спор для круглого стола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14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CPU или GPU: спор для круглого стола</vt:lpstr>
      <vt:lpstr>CPU или GPU: кто победит в гонке AI-ускорителей?</vt:lpstr>
      <vt:lpstr>Кто решит задачу быстрее?</vt:lpstr>
      <vt:lpstr>Деньги уже у GPU?</vt:lpstr>
      <vt:lpstr>Угадайте: кто быстрее?</vt:lpstr>
      <vt:lpstr>Ответ: решает память</vt:lpstr>
      <vt:lpstr>А если оба проигрывают?</vt:lpstr>
      <vt:lpstr>Токенов всё больше</vt:lpstr>
      <vt:lpstr>Согласны? Четыре спорных тезиса</vt:lpstr>
      <vt:lpstr>Единого победителя нет: всё зависит от задачи</vt:lpstr>
      <vt:lpstr>Резерв: CPU и GPU в цифрах</vt:lpstr>
      <vt:lpstr>Резерв: кто за что отвечает</vt:lpstr>
      <vt:lpstr>Резерв: таблица теста инференса</vt:lpstr>
      <vt:lpstr>Резерв: проверка цифр из чата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или GPU: спор для круглого стола</dc:title>
  <dc:subject/>
  <dc:creator/>
  <cp:lastModifiedBy>Гостевой пользователь</cp:lastModifiedBy>
  <cp:revision>2</cp:revision>
  <dcterms:created xsi:type="dcterms:W3CDTF">2026-10-26T07:24:26Z</dcterms:created>
  <dcterms:modified xsi:type="dcterms:W3CDTF">2026-10-26T07:29:19Z</dcterms:modified>
</cp:coreProperties>
</file>